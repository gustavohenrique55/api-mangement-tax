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d79038992b46cb" /><Relationship Type="http://schemas.openxmlformats.org/officeDocument/2006/relationships/extended-properties" Target="/docProps/app.xml" Id="R60c153d50f1c4ffe" /><Relationship Type="http://schemas.openxmlformats.org/officeDocument/2006/relationships/officeDocument" Target="/ppt/presentation.xml" Id="R024166c89edc46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aaaf463c5247de"/>
  </p:sldMasterIdLst>
  <p:notesMasterIdLst>
    <p:notesMasterId xmlns:r="http://schemas.openxmlformats.org/officeDocument/2006/relationships" r:id="R0c7041d6b9434f8d"/>
  </p:notesMasterIdLst>
  <p:sldIdLst>
    <p:sldId xmlns:r="http://schemas.openxmlformats.org/officeDocument/2006/relationships" id="256" r:id="R17f3fb24b05a4511"/>
    <p:sldId xmlns:r="http://schemas.openxmlformats.org/officeDocument/2006/relationships" id="257" r:id="R26ddde8631e24403"/>
    <p:sldId xmlns:r="http://schemas.openxmlformats.org/officeDocument/2006/relationships" id="258" r:id="Rc26f89c6913d4457"/>
    <p:sldId xmlns:r="http://schemas.openxmlformats.org/officeDocument/2006/relationships" id="259" r:id="R386361d4e8bd4aa0"/>
    <p:sldId xmlns:r="http://schemas.openxmlformats.org/officeDocument/2006/relationships" id="260" r:id="Ra0401c5ebf764beb"/>
    <p:sldId xmlns:r="http://schemas.openxmlformats.org/officeDocument/2006/relationships" id="261" r:id="Re1debf3f4565424e"/>
    <p:sldId xmlns:r="http://schemas.openxmlformats.org/officeDocument/2006/relationships" id="262" r:id="R56a1efee95a6493a"/>
    <p:sldId xmlns:r="http://schemas.openxmlformats.org/officeDocument/2006/relationships" id="263" r:id="R0b512bc926884b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e29d42ac384cf0" /><Relationship Type="http://schemas.openxmlformats.org/officeDocument/2006/relationships/slideMaster" Target="/ppt/slideMasters/slideMaster1.xml" Id="R3baaaf463c5247de" /><Relationship Type="http://schemas.openxmlformats.org/officeDocument/2006/relationships/notesMaster" Target="/ppt/notesMasters/notesMaster1.xml" Id="R0c7041d6b9434f8d" /><Relationship Type="http://schemas.openxmlformats.org/officeDocument/2006/relationships/presProps" Target="/ppt/presProps.xml" Id="Rc1386835e7984d84" /><Relationship Type="http://schemas.openxmlformats.org/officeDocument/2006/relationships/tableStyles" Target="/ppt/tableStyles.xml" Id="R856a90b9f97f4f7d" /><Relationship Type="http://schemas.openxmlformats.org/officeDocument/2006/relationships/slide" Target="/ppt/slides/slide1.xml" Id="R17f3fb24b05a4511" /><Relationship Type="http://schemas.openxmlformats.org/officeDocument/2006/relationships/slide" Target="/ppt/slides/slide2.xml" Id="R26ddde8631e24403" /><Relationship Type="http://schemas.openxmlformats.org/officeDocument/2006/relationships/slide" Target="/ppt/slides/slide3.xml" Id="Rc26f89c6913d4457" /><Relationship Type="http://schemas.openxmlformats.org/officeDocument/2006/relationships/slide" Target="/ppt/slides/slide4.xml" Id="R386361d4e8bd4aa0" /><Relationship Type="http://schemas.openxmlformats.org/officeDocument/2006/relationships/slide" Target="/ppt/slides/slide5.xml" Id="Ra0401c5ebf764beb" /><Relationship Type="http://schemas.openxmlformats.org/officeDocument/2006/relationships/slide" Target="/ppt/slides/slide6.xml" Id="Re1debf3f4565424e" /><Relationship Type="http://schemas.openxmlformats.org/officeDocument/2006/relationships/slide" Target="/ppt/slides/slide7.xml" Id="R56a1efee95a6493a" /><Relationship Type="http://schemas.openxmlformats.org/officeDocument/2006/relationships/slide" Target="/ppt/slides/slide8.xml" Id="R0b512bc926884b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cb1e02055a46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9dabf9749b4928" /><Relationship Type="http://schemas.openxmlformats.org/officeDocument/2006/relationships/notesMaster" Target="/ppt/notesMasters/notesMaster1.xml" Id="R305ba780c8d142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be3a888c9b4cc9" /><Relationship Type="http://schemas.openxmlformats.org/officeDocument/2006/relationships/notesMaster" Target="/ppt/notesMasters/notesMaster1.xml" Id="Rf822ea2a6b1843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6e226b23ce456b" /><Relationship Type="http://schemas.openxmlformats.org/officeDocument/2006/relationships/notesMaster" Target="/ppt/notesMasters/notesMaster1.xml" Id="R0873138d03204f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169eebbf4b4684" /><Relationship Type="http://schemas.openxmlformats.org/officeDocument/2006/relationships/notesMaster" Target="/ppt/notesMasters/notesMaster1.xml" Id="Rf592140e021341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867f0538214620" /><Relationship Type="http://schemas.openxmlformats.org/officeDocument/2006/relationships/notesMaster" Target="/ppt/notesMasters/notesMaster1.xml" Id="Rc532638d8b4e43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d96efe5c2a447a" /><Relationship Type="http://schemas.openxmlformats.org/officeDocument/2006/relationships/notesMaster" Target="/ppt/notesMasters/notesMaster1.xml" Id="R04712fae45e146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77a6cf7a7f450f" /><Relationship Type="http://schemas.openxmlformats.org/officeDocument/2006/relationships/notesMaster" Target="/ppt/notesMasters/notesMaster1.xml" Id="R53f393df847b42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655fcfc0794c9a" /><Relationship Type="http://schemas.openxmlformats.org/officeDocument/2006/relationships/notesMaster" Target="/ppt/notesMasters/notesMaster1.xml" Id="R0963657796204e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72197726b14e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48eb7617504337" /><Relationship Type="http://schemas.openxmlformats.org/officeDocument/2006/relationships/slideLayout" Target="/ppt/slideLayouts/slideLayout1.xml" Id="R3389abd86a3841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89abd86a3841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b0f984c6549dd" /><Relationship Type="http://schemas.openxmlformats.org/officeDocument/2006/relationships/image" Target="/ppt/media/image.png" Id="R31a8834c481b425a" /><Relationship Type="http://schemas.openxmlformats.org/officeDocument/2006/relationships/notesSlide" Target="/ppt/notesSlides/notesSlide1.xml" Id="R57db38addeba43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1a79dc54048b5" /><Relationship Type="http://schemas.openxmlformats.org/officeDocument/2006/relationships/notesSlide" Target="/ppt/notesSlides/notesSlide2.xml" Id="Rf6b7d44f875249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2aadd376c4792" /><Relationship Type="http://schemas.openxmlformats.org/officeDocument/2006/relationships/notesSlide" Target="/ppt/notesSlides/notesSlide3.xml" Id="R2fd077f5d73445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29cd886554491" /><Relationship Type="http://schemas.openxmlformats.org/officeDocument/2006/relationships/chart" Target="/ppt/slides/charts/chart1.xml" Id="R871f0079431a4e52" /><Relationship Type="http://schemas.openxmlformats.org/officeDocument/2006/relationships/notesSlide" Target="/ppt/notesSlides/notesSlide4.xml" Id="Re555a1291b3b4b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d5d3326724e1f" /><Relationship Type="http://schemas.openxmlformats.org/officeDocument/2006/relationships/notesSlide" Target="/ppt/notesSlides/notesSlide5.xml" Id="R67fbc358a18a40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e54de97494542" /><Relationship Type="http://schemas.openxmlformats.org/officeDocument/2006/relationships/notesSlide" Target="/ppt/notesSlides/notesSlide6.xml" Id="Rd84418f20bc84c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0aa496fe1402c" /><Relationship Type="http://schemas.openxmlformats.org/officeDocument/2006/relationships/notesSlide" Target="/ppt/notesSlides/notesSlide7.xml" Id="Rfb61d451e52649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59e67090145aa" /><Relationship Type="http://schemas.openxmlformats.org/officeDocument/2006/relationships/notesSlide" Target="/ppt/notesSlides/notesSlide8.xml" Id="Rf25ee7f2b0bf460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IDE</c:v>
          </c:tx>
          <c:spPr>
            <a:solidFill xmlns:a="http://schemas.openxmlformats.org/drawingml/2006/main">
              <a:srgbClr val="147353"/>
            </a:solidFill>
          </c:spPr>
          <c:cat>
            <c:strLit>
              <c:ptCount val="8"/>
              <c:pt idx="0">
                <c:v>MX</c:v>
              </c:pt>
              <c:pt idx="1">
                <c:v>BR</c:v>
              </c:pt>
              <c:pt idx="2">
                <c:v>CO</c:v>
              </c:pt>
              <c:pt idx="3">
                <c:v>PA</c:v>
              </c:pt>
              <c:pt idx="4">
                <c:v>AR</c:v>
              </c:pt>
              <c:pt idx="5">
                <c:v>PR</c:v>
              </c:pt>
              <c:pt idx="6">
                <c:v>KY</c:v>
              </c:pt>
              <c:pt idx="7">
                <c:v>VE</c:v>
              </c:pt>
            </c:strLit>
          </c:cat>
          <c:val>
            <c:numLit>
              <c:formatCode>General</c:formatCode>
              <c:ptCount val="8"/>
              <c:pt idx="0">
                <c:v>100</c:v>
              </c:pt>
              <c:pt idx="1">
                <c:v>94.2</c:v>
              </c:pt>
              <c:pt idx="2">
                <c:v>89.4</c:v>
              </c:pt>
              <c:pt idx="3">
                <c:v>81.1</c:v>
              </c:pt>
              <c:pt idx="4">
                <c:v>67.8</c:v>
              </c:pt>
              <c:pt idx="5">
                <c:v>61.9</c:v>
              </c:pt>
              <c:pt idx="6">
                <c:v>55.6</c:v>
              </c:pt>
              <c:pt idx="7">
                <c:v>38.4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D9D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8834c481b425a"/>
          <a:srcRect xmlns:a="http://schemas.openxmlformats.org/drawingml/2006/main" l="3322" t="0" r="33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3DBA6-050E-48F4-A576-E972C699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4231D">
              <a:alpha val="86667"/>
            </a:srgbClr>
          </a:solidFill>
          <a:ln xmlns:a="http://schemas.openxmlformats.org/drawingml/2006/main" w="9525">
            <a:solidFill>
              <a:srgbClr val="14231D">
                <a:alpha val="86667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6CBD9-B75C-4320-AFA6-056EB954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EF9"/>
                </a:solidFill>
              </a:defRPr>
            </a:pPr>
            <a:r>
              <a:rPr sz="1350" b="0">
                <a:solidFill>
                  <a:srgbClr val="FFFEF9"/>
                </a:solidFill>
              </a:rPr>
              <a:t>Proposta para discussão com especialista tributário regional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E6E08-311B-42B3-98FE-132975DC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912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DDC53"/>
                </a:solidFill>
              </a:defRPr>
            </a:pPr>
            <a:r>
              <a:rPr sz="1200" b="1">
                <a:solidFill>
                  <a:srgbClr val="BDDC53"/>
                </a:solidFill>
              </a:rPr>
              <a:t>2026 Q3</a:t>
            </a:r>
          </a:p>
        </p:txBody>
      </p:sp>
    </p:spTree>
    <p:extLst>
      <p:ext uri="{BB962C8B-B14F-4D97-AF65-F5344CB8AC3E}">
        <p14:creationId xmlns:p14="http://schemas.microsoft.com/office/powerpoint/2010/main" val="17055105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B3F7D7-E3C9-44FE-983A-B7331DBC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353"/>
                </a:solidFill>
              </a:defRPr>
            </a:pPr>
            <a:r>
              <a:rPr sz="975" b="1">
                <a:solidFill>
                  <a:srgbClr val="147353"/>
                </a:solidFill>
              </a:rPr>
              <a:t>O MANDATO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7472B-D95C-4968-A73F-A3893C08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31D"/>
                </a:solidFill>
              </a:defRPr>
            </a:pPr>
            <a:r>
              <a:rPr sz="3000" b="1">
                <a:solidFill>
                  <a:srgbClr val="14231D"/>
                </a:solidFill>
              </a:rPr>
              <a:t>Governar resultado regional sem substituir o especialista local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02277-38C1-4471-9481-DD032800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56F"/>
                </a:solidFill>
              </a:defRPr>
            </a:pPr>
            <a:r>
              <a:rPr sz="1800" b="0">
                <a:solidFill>
                  <a:srgbClr val="68756F"/>
                </a:solidFill>
              </a:rPr>
              <a:t>O Management Tax consolida decisões, risco e desempenho. A execução técnica permanece com escritórios habilitados em cada jurisdição.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87E8C-70FD-4C4B-AFE1-43BA1B42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7353"/>
                </a:solidFill>
              </a:defRPr>
            </a:pPr>
            <a:r>
              <a:rPr sz="1275" b="1">
                <a:solidFill>
                  <a:srgbClr val="14735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9F7E8-DC35-47FF-BB98-0D48E11C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31D"/>
                </a:solidFill>
              </a:defRPr>
            </a:pPr>
            <a:r>
              <a:rPr sz="1950" b="1">
                <a:solidFill>
                  <a:srgbClr val="14231D"/>
                </a:solidFill>
              </a:rPr>
              <a:t>Reduzir a carga efetiva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51A4B-DC67-4586-86C7-9930A2B4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56F"/>
                </a:solidFill>
              </a:defRPr>
            </a:pPr>
            <a:r>
              <a:rPr sz="1500" b="0">
                <a:solidFill>
                  <a:srgbClr val="68756F"/>
                </a:solidFill>
              </a:rPr>
              <a:t>ETR, incentivos e créditos com efeito de caixa verificável.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FBCC2-2136-480B-B7F4-7F7EF94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0"/>
          </a:solidFill>
          <a:ln xmlns:a="http://schemas.openxmlformats.org/drawingml/2006/main" w="0">
            <a:solidFill>
              <a:srgbClr val="D9D9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4F77A-B1EE-4EB1-A862-62B23FE3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7353"/>
                </a:solidFill>
              </a:defRPr>
            </a:pPr>
            <a:r>
              <a:rPr sz="1275" b="1">
                <a:solidFill>
                  <a:srgbClr val="147353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6C54D-37ED-46DA-A74B-A306781D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385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31D"/>
                </a:solidFill>
              </a:defRPr>
            </a:pPr>
            <a:r>
              <a:rPr sz="1950" b="1">
                <a:solidFill>
                  <a:srgbClr val="14231D"/>
                </a:solidFill>
              </a:rPr>
              <a:t>Controlar exposição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2B168-4DB4-404E-9492-5A088797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56F"/>
                </a:solidFill>
              </a:defRPr>
            </a:pPr>
            <a:r>
              <a:rPr sz="1500" b="0">
                <a:solidFill>
                  <a:srgbClr val="68756F"/>
                </a:solidFill>
              </a:rPr>
              <a:t>Materialidade, apetite de risco, contingências e gates ex ante.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6E320-B04D-4E12-AE7B-58B2077F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0"/>
          </a:solidFill>
          <a:ln xmlns:a="http://schemas.openxmlformats.org/drawingml/2006/main" w="0">
            <a:solidFill>
              <a:srgbClr val="D9D9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35E4D9-8323-4F5B-994D-746E9364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7353"/>
                </a:solidFill>
              </a:defRPr>
            </a:pPr>
            <a:r>
              <a:rPr sz="1275" b="1">
                <a:solidFill>
                  <a:srgbClr val="147353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58492-4443-4E56-B278-882F4D16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053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31D"/>
                </a:solidFill>
              </a:defRPr>
            </a:pPr>
            <a:r>
              <a:rPr sz="1950" b="1">
                <a:solidFill>
                  <a:srgbClr val="14231D"/>
                </a:solidFill>
              </a:rPr>
              <a:t>Padronizar a rede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3733A-C6EA-4C7B-910A-A2BEE12D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053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56F"/>
                </a:solidFill>
              </a:defRPr>
            </a:pPr>
            <a:r>
              <a:rPr sz="1500" b="0">
                <a:solidFill>
                  <a:srgbClr val="68756F"/>
                </a:solidFill>
              </a:rPr>
              <a:t>IDE, SLA, reliance e atualização legislativa em 30+ jurisdições.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3932D0-3520-447A-9E96-CA889C74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97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0"/>
          </a:solidFill>
          <a:ln xmlns:a="http://schemas.openxmlformats.org/drawingml/2006/main" w="0">
            <a:solidFill>
              <a:srgbClr val="D9D9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677AB3-8C3F-4497-8F94-27A3F091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56F"/>
                </a:solidFill>
              </a:defRPr>
            </a:pPr>
            <a:r>
              <a:rPr sz="825" b="1">
                <a:solidFill>
                  <a:srgbClr val="68756F"/>
                </a:solidFill>
              </a:rPr>
              <a:t>EMPRESA CONFIDENCIAL · DADOS SINTÉTICOS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D3BCD-6D0A-40B5-B95B-E5D9E67D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6F"/>
                </a:solidFill>
              </a:defRPr>
            </a:pPr>
            <a:r>
              <a:rPr sz="825" b="1">
                <a:solidFill>
                  <a:srgbClr val="68756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804077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7D1D6B-EBBE-4444-B9E1-56B9A17B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353"/>
                </a:solidFill>
              </a:defRPr>
            </a:pPr>
            <a:r>
              <a:rPr sz="975" b="1">
                <a:solidFill>
                  <a:srgbClr val="147353"/>
                </a:solidFill>
              </a:rPr>
              <a:t>ARQUITETURA DE COBERTURA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09B08-F668-4E74-BC2C-09C68E73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31D"/>
                </a:solidFill>
              </a:defRPr>
            </a:pPr>
            <a:r>
              <a:rPr sz="3000" b="1">
                <a:solidFill>
                  <a:srgbClr val="14231D"/>
                </a:solidFill>
              </a:rPr>
              <a:t>A intensidade de supervisão acompanha materialidade e risco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6CEB0-FA15-496C-90C3-1AAF2D54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353"/>
                </a:solidFill>
              </a:defRPr>
            </a:pPr>
            <a:r>
              <a:rPr sz="1350" b="1">
                <a:solidFill>
                  <a:srgbClr val="147353"/>
                </a:solidFill>
              </a:rPr>
              <a:t>TIER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5FED1-08BD-49CC-8B61-DD8A3C16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666875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31D"/>
                </a:solidFill>
              </a:defRPr>
            </a:pPr>
            <a:r>
              <a:rPr sz="1500" b="1">
                <a:solidFill>
                  <a:srgbClr val="14231D"/>
                </a:solidFill>
              </a:rPr>
              <a:t>Brasil · México · Colômbia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73507-6189-4FC1-A9C7-08936CF0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6687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56F"/>
                </a:solidFill>
              </a:defRPr>
            </a:pPr>
            <a:r>
              <a:rPr sz="1350" b="0">
                <a:solidFill>
                  <a:srgbClr val="68756F"/>
                </a:solidFill>
              </a:rPr>
              <a:t>Supervisão próxima e scorecard trimestral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9A538-B403-4AA7-80DD-5D811B88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81225"/>
            <a:ext cx="10382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353"/>
          </a:solidFill>
          <a:ln xmlns:a="http://schemas.openxmlformats.org/drawingml/2006/main" w="9525">
            <a:solidFill>
              <a:srgbClr val="1473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EC99C-89C4-41F5-94E9-835D032B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DDC53"/>
                </a:solidFill>
              </a:defRPr>
            </a:pPr>
            <a:r>
              <a:rPr sz="1350" b="1">
                <a:solidFill>
                  <a:srgbClr val="BDDC53"/>
                </a:solidFill>
              </a:rPr>
              <a:t>TIER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FCD16-E38A-4B1A-B5DF-956808B7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524125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31D"/>
                </a:solidFill>
              </a:defRPr>
            </a:pPr>
            <a:r>
              <a:rPr sz="1500" b="1">
                <a:solidFill>
                  <a:srgbClr val="14231D"/>
                </a:solidFill>
              </a:rPr>
              <a:t>Argentina · Chile · Peru · outros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CDD49-F133-4728-B743-35F8185C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2412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56F"/>
                </a:solidFill>
              </a:defRPr>
            </a:pPr>
            <a:r>
              <a:rPr sz="1350" b="0">
                <a:solidFill>
                  <a:srgbClr val="68756F"/>
                </a:solidFill>
              </a:rPr>
              <a:t>Reporte periódico; Argentina com atenção cambial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32A20-C013-4390-A14D-0C158E83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38475"/>
            <a:ext cx="10382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DC53"/>
          </a:solidFill>
          <a:ln xmlns:a="http://schemas.openxmlformats.org/drawingml/2006/main" w="9525">
            <a:solidFill>
              <a:srgbClr val="BDDC5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EB180-0890-45FA-BDCE-96F1BC56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526"/>
                </a:solidFill>
              </a:defRPr>
            </a:pPr>
            <a:r>
              <a:rPr sz="1350" b="1">
                <a:solidFill>
                  <a:srgbClr val="C78526"/>
                </a:solidFill>
              </a:rPr>
              <a:t>TIER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878F2-6A6B-497A-94C9-5422B483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81375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31D"/>
                </a:solidFill>
              </a:defRPr>
            </a:pPr>
            <a:r>
              <a:rPr sz="1500" b="1">
                <a:solidFill>
                  <a:srgbClr val="14231D"/>
                </a:solidFill>
              </a:rPr>
              <a:t>América Central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64847-C1FD-412F-8240-162B4821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8137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56F"/>
                </a:solidFill>
              </a:defRPr>
            </a:pPr>
            <a:r>
              <a:rPr sz="1350" b="0">
                <a:solidFill>
                  <a:srgbClr val="68756F"/>
                </a:solidFill>
              </a:rPr>
              <a:t>Gestão por hub e regime regional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9F457-0776-4B4A-A543-7A6C1FA7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10382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526"/>
          </a:solidFill>
          <a:ln xmlns:a="http://schemas.openxmlformats.org/drawingml/2006/main" w="9525">
            <a:solidFill>
              <a:srgbClr val="C785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2ABFF-9B5C-42CC-85EB-1D1049A7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353"/>
                </a:solidFill>
              </a:defRPr>
            </a:pPr>
            <a:r>
              <a:rPr sz="1350" b="1">
                <a:solidFill>
                  <a:srgbClr val="147353"/>
                </a:solidFill>
              </a:rPr>
              <a:t>TIER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6C1FEB-6D24-45CF-86AD-48346541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238625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31D"/>
                </a:solidFill>
              </a:defRPr>
            </a:pPr>
            <a:r>
              <a:rPr sz="1500" b="1">
                <a:solidFill>
                  <a:srgbClr val="14231D"/>
                </a:solidFill>
              </a:rPr>
              <a:t>Caribe e territórios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64376-3E9A-47DD-BAB4-C8FABD64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3862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56F"/>
                </a:solidFill>
              </a:defRPr>
            </a:pPr>
            <a:r>
              <a:rPr sz="1350" b="0">
                <a:solidFill>
                  <a:srgbClr val="68756F"/>
                </a:solidFill>
              </a:rPr>
              <a:t>Assessoria por tradição jurídica e substância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75BD1F-8547-47E7-AC81-13A5B450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10382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353"/>
          </a:solidFill>
          <a:ln xmlns:a="http://schemas.openxmlformats.org/drawingml/2006/main" w="9525">
            <a:solidFill>
              <a:srgbClr val="1473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498697-9D14-4775-B9B5-22BF4297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4335"/>
                </a:solidFill>
              </a:defRPr>
            </a:pPr>
            <a:r>
              <a:rPr sz="1350" b="1">
                <a:solidFill>
                  <a:srgbClr val="B64335"/>
                </a:solidFill>
              </a:rPr>
              <a:t>TIER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27ABC8-4A0E-4A1D-8EC1-3D07F0AC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31D"/>
                </a:solidFill>
              </a:defRPr>
            </a:pPr>
            <a:r>
              <a:rPr sz="1500" b="1">
                <a:solidFill>
                  <a:srgbClr val="14231D"/>
                </a:solidFill>
              </a:rPr>
              <a:t>Venezuela · Cuba · Haiti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FF4E9F-A229-4DAC-AB1F-C2FBE45C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9587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56F"/>
                </a:solidFill>
              </a:defRPr>
            </a:pPr>
            <a:r>
              <a:rPr sz="1350" b="0">
                <a:solidFill>
                  <a:srgbClr val="68756F"/>
                </a:solidFill>
              </a:rPr>
              <a:t>Risco reforçado, sanções e continuidade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43FB85-702D-4CD7-973D-F852737B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0225"/>
            <a:ext cx="10382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4335"/>
          </a:solidFill>
          <a:ln xmlns:a="http://schemas.openxmlformats.org/drawingml/2006/main" w="9525">
            <a:solidFill>
              <a:srgbClr val="B643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BE31AF-1825-4532-BD8B-AD448CE9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56F"/>
                </a:solidFill>
              </a:defRPr>
            </a:pPr>
            <a:r>
              <a:rPr sz="825" b="1">
                <a:solidFill>
                  <a:srgbClr val="68756F"/>
                </a:solidFill>
              </a:rPr>
              <a:t>EMPRESA CONFIDENCIAL · DADOS SINTÉTICOS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636B74-8C02-493D-AD6B-43BA8363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6F"/>
                </a:solidFill>
              </a:defRPr>
            </a:pPr>
            <a:r>
              <a:rPr sz="825" b="1">
                <a:solidFill>
                  <a:srgbClr val="68756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109895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0DEA19-5A92-421C-AF54-E257C0D6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353"/>
                </a:solidFill>
              </a:defRPr>
            </a:pPr>
            <a:r>
              <a:rPr sz="975" b="1">
                <a:solidFill>
                  <a:srgbClr val="147353"/>
                </a:solidFill>
              </a:rPr>
              <a:t>VISÃO EXECUTIVA SINTÉTICA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FB27A-D27A-49B2-9BC2-662DA608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31D"/>
                </a:solidFill>
              </a:defRPr>
            </a:pPr>
            <a:r>
              <a:rPr sz="3000" b="1">
                <a:solidFill>
                  <a:srgbClr val="14231D"/>
                </a:solidFill>
              </a:rPr>
              <a:t>O painel equilibra geração de valor e exposição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2FB18-B55C-44FA-8809-B58FDA0C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56F"/>
                </a:solidFill>
              </a:defRPr>
            </a:pPr>
            <a:r>
              <a:rPr sz="1125" b="1">
                <a:solidFill>
                  <a:srgbClr val="68756F"/>
                </a:solidFill>
              </a:rPr>
              <a:t>ETR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2C6FB-35AA-44A5-88F2-70083A74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31D"/>
                </a:solidFill>
              </a:defRPr>
            </a:pPr>
            <a:r>
              <a:rPr sz="2700" b="1">
                <a:solidFill>
                  <a:srgbClr val="14231D"/>
                </a:solidFill>
              </a:rPr>
              <a:t>16,3%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10981-CD63-4A00-BAF7-74BF8853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353"/>
                </a:solidFill>
              </a:defRPr>
            </a:pPr>
            <a:r>
              <a:rPr sz="1125" b="1">
                <a:solidFill>
                  <a:srgbClr val="147353"/>
                </a:solidFill>
              </a:rPr>
              <a:t>−2,1 p.p.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46840-B0B5-4DFB-8020-CBEC2C7B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716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56F"/>
                </a:solidFill>
              </a:defRPr>
            </a:pPr>
            <a:r>
              <a:rPr sz="1125" b="1">
                <a:solidFill>
                  <a:srgbClr val="68756F"/>
                </a:solidFill>
              </a:rPr>
              <a:t>IDE médio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A3C58-B8ED-4450-B324-7EE7B3A6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5737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31D"/>
                </a:solidFill>
              </a:defRPr>
            </a:pPr>
            <a:r>
              <a:rPr sz="2700" b="1">
                <a:solidFill>
                  <a:srgbClr val="14231D"/>
                </a:solidFill>
              </a:rPr>
              <a:t>73,6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D984D-B632-409B-89B5-7B977F50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717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353"/>
                </a:solidFill>
              </a:defRPr>
            </a:pPr>
            <a:r>
              <a:rPr sz="1125" b="1">
                <a:solidFill>
                  <a:srgbClr val="147353"/>
                </a:solidFill>
              </a:rPr>
              <a:t>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13526-CA36-4AAB-B2C1-38DACE40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56F"/>
                </a:solidFill>
              </a:defRPr>
            </a:pPr>
            <a:r>
              <a:rPr sz="1125" b="1">
                <a:solidFill>
                  <a:srgbClr val="68756F"/>
                </a:solidFill>
              </a:rPr>
              <a:t>Créditos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04D38-283B-40C2-BB6F-B7818436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31D"/>
                </a:solidFill>
              </a:defRPr>
            </a:pPr>
            <a:r>
              <a:rPr sz="2700" b="1">
                <a:solidFill>
                  <a:srgbClr val="14231D"/>
                </a:solidFill>
              </a:rPr>
              <a:t>€ 669 mil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D94E9-28D7-4DEC-83AD-BB0973F1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717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353"/>
                </a:solidFill>
              </a:defRPr>
            </a:pPr>
            <a:r>
              <a:rPr sz="1125" b="1">
                <a:solidFill>
                  <a:srgbClr val="147353"/>
                </a:solidFill>
              </a:rPr>
              <a:t>83,6% meta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EC1FE-DA49-4F3E-96B8-210419ED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716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56F"/>
                </a:solidFill>
              </a:defRPr>
            </a:pPr>
            <a:r>
              <a:rPr sz="1125" b="1">
                <a:solidFill>
                  <a:srgbClr val="68756F"/>
                </a:solidFill>
              </a:rPr>
              <a:t>Exposição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70378-E1AA-4971-B2BD-A32C0B32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5737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31D"/>
                </a:solidFill>
              </a:defRPr>
            </a:pPr>
            <a:r>
              <a:rPr sz="2700" b="1">
                <a:solidFill>
                  <a:srgbClr val="14231D"/>
                </a:solidFill>
              </a:rPr>
              <a:t>€ 2,2 mi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D2225-26E4-4CA5-8885-67F0EA84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717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4335"/>
                </a:solidFill>
              </a:defRPr>
            </a:pPr>
            <a:r>
              <a:rPr sz="1125" b="1">
                <a:solidFill>
                  <a:srgbClr val="B64335"/>
                </a:solidFill>
              </a:rPr>
              <a:t>2 exceções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666750" y="3143250"/>
          <a:ext xmlns:a="http://schemas.openxmlformats.org/drawingml/2006/main" cx="72390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1f0079431a4e52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A8639-6E1B-4BC1-8889-94F70C09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43250"/>
            <a:ext cx="3190875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4231D"/>
          </a:solidFill>
          <a:ln xmlns:a="http://schemas.openxmlformats.org/drawingml/2006/main" w="9525">
            <a:solidFill>
              <a:srgbClr val="D9D9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ED7B78-37BB-4A97-A359-01D6B9C7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290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DDC53"/>
                </a:solidFill>
              </a:defRPr>
            </a:pPr>
            <a:r>
              <a:rPr sz="1050" b="1">
                <a:solidFill>
                  <a:srgbClr val="BDDC53"/>
                </a:solidFill>
              </a:rPr>
              <a:t>LEITURA PARA DECISÃO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244C6E-6DDC-4C20-8446-F1DC3D13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862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EF9"/>
                </a:solidFill>
              </a:defRPr>
            </a:pPr>
            <a:r>
              <a:rPr sz="3150" b="1">
                <a:solidFill>
                  <a:srgbClr val="FFFEF9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852688-C0AF-4E58-BC25-84D14988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909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EF9"/>
                </a:solidFill>
              </a:defRPr>
            </a:pPr>
            <a:r>
              <a:rPr sz="1425" b="1">
                <a:solidFill>
                  <a:srgbClr val="FFFEF9"/>
                </a:solidFill>
              </a:rPr>
              <a:t>escritórios em Atenção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3C9D4F-5BDE-46C9-A32A-8611B21C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6291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B64335"/>
                </a:solidFill>
              </a:defRPr>
            </a:pPr>
            <a:r>
              <a:rPr sz="3150" b="1">
                <a:solidFill>
                  <a:srgbClr val="B64335"/>
                </a:solidFill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E6E29-525F-417D-8C4B-0588C17D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7339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EF9"/>
                </a:solidFill>
              </a:defRPr>
            </a:pPr>
            <a:r>
              <a:rPr sz="1425" b="1">
                <a:solidFill>
                  <a:srgbClr val="FFFEF9"/>
                </a:solidFill>
              </a:rPr>
              <a:t>escritório Crítico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857EFB-04E2-42DC-87BA-2D8A0A85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56F"/>
                </a:solidFill>
              </a:defRPr>
            </a:pPr>
            <a:r>
              <a:rPr sz="825" b="1">
                <a:solidFill>
                  <a:srgbClr val="68756F"/>
                </a:solidFill>
              </a:rPr>
              <a:t>EMPRESA CONFIDENCIAL · DADOS SINTÉTICOS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120A52-4142-4123-8B9B-BAEF0714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6F"/>
                </a:solidFill>
              </a:defRPr>
            </a:pPr>
            <a:r>
              <a:rPr sz="825" b="1">
                <a:solidFill>
                  <a:srgbClr val="68756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971774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33C11E-E6C3-49D0-B425-277F46D7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353"/>
                </a:solidFill>
              </a:defRPr>
            </a:pPr>
            <a:r>
              <a:rPr sz="975" b="1">
                <a:solidFill>
                  <a:srgbClr val="147353"/>
                </a:solidFill>
              </a:rPr>
              <a:t>SCORECARD DOS ESCRITÓRIOS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2C8BC-70D0-4634-A7B9-0CB1CC23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31D"/>
                </a:solidFill>
              </a:defRPr>
            </a:pPr>
            <a:r>
              <a:rPr sz="3000" b="1">
                <a:solidFill>
                  <a:srgbClr val="14231D"/>
                </a:solidFill>
              </a:rPr>
              <a:t>Onze indicadores transformam desempenho em evidência comparável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82E94-D403-46C0-85C3-6B2D9D68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524125" cy="390525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3F1E9"/>
          </a:solidFill>
          <a:ln xmlns:a="http://schemas.openxmlformats.org/drawingml/2006/main" w="9525">
            <a:solidFill>
              <a:srgbClr val="D9D9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CB370-2A68-4AFE-AEDC-67B8755D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31D"/>
                </a:solidFill>
              </a:defRPr>
            </a:pPr>
            <a:r>
              <a:rPr sz="1650" b="1">
                <a:solidFill>
                  <a:srgbClr val="14231D"/>
                </a:solidFill>
              </a:rPr>
              <a:t>Qualidade · 25%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CBB7D-9735-4B0A-8CC6-A2F2D17D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353"/>
          </a:solidFill>
          <a:ln xmlns:a="http://schemas.openxmlformats.org/drawingml/2006/main" w="9525">
            <a:solidFill>
              <a:srgbClr val="1473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5B10D-CA4A-4DF0-B587-DA3B8354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1819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31D"/>
                </a:solidFill>
              </a:defRPr>
            </a:pPr>
            <a:r>
              <a:rPr sz="1500" b="0">
                <a:solidFill>
                  <a:srgbClr val="14231D"/>
                </a:solidFill>
              </a:rPr>
              <a:t>Êxito em disputas 15%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BE6C7-A580-4796-B698-8855B2FE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353"/>
          </a:solidFill>
          <a:ln xmlns:a="http://schemas.openxmlformats.org/drawingml/2006/main" w="9525">
            <a:solidFill>
              <a:srgbClr val="1473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C2D51-65A8-45FC-961C-24E90ACA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1819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31D"/>
                </a:solidFill>
              </a:defRPr>
            </a:pPr>
            <a:r>
              <a:rPr sz="1500" b="0">
                <a:solidFill>
                  <a:srgbClr val="14231D"/>
                </a:solidFill>
              </a:rPr>
              <a:t>Retrabalho de pareceres 10%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89FF5-6EE8-43BC-9C47-1A40B9A1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2524125" cy="390525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3F1E9"/>
          </a:solidFill>
          <a:ln xmlns:a="http://schemas.openxmlformats.org/drawingml/2006/main" w="9525">
            <a:solidFill>
              <a:srgbClr val="D9D9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29EB4-B267-4763-9E08-BACCEA3D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31D"/>
                </a:solidFill>
              </a:defRPr>
            </a:pPr>
            <a:r>
              <a:rPr sz="1650" b="1">
                <a:solidFill>
                  <a:srgbClr val="14231D"/>
                </a:solidFill>
              </a:rPr>
              <a:t>Prazo · 20%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C700C-3ECC-45FF-B666-A8EC7ECF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28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353"/>
          </a:solidFill>
          <a:ln xmlns:a="http://schemas.openxmlformats.org/drawingml/2006/main" w="9525">
            <a:solidFill>
              <a:srgbClr val="1473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91C08-38D6-4B71-9CD5-8A857FFD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71750"/>
            <a:ext cx="1819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31D"/>
                </a:solidFill>
              </a:defRPr>
            </a:pPr>
            <a:r>
              <a:rPr sz="1500" b="0">
                <a:solidFill>
                  <a:srgbClr val="14231D"/>
                </a:solidFill>
              </a:rPr>
              <a:t>Resposta 10%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5360B-160F-4D18-87A2-9506A2CF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353"/>
          </a:solidFill>
          <a:ln xmlns:a="http://schemas.openxmlformats.org/drawingml/2006/main" w="9525">
            <a:solidFill>
              <a:srgbClr val="1473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4621C-D4BB-4D8C-9C60-A6498B49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62300"/>
            <a:ext cx="1819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31D"/>
                </a:solidFill>
              </a:defRPr>
            </a:pPr>
            <a:r>
              <a:rPr sz="1500" b="0">
                <a:solidFill>
                  <a:srgbClr val="14231D"/>
                </a:solidFill>
              </a:rPr>
              <a:t>Prazos legais 10%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A1503-4F7C-46C0-BBAD-D9664F81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524125" cy="390525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3F1E9"/>
          </a:solidFill>
          <a:ln xmlns:a="http://schemas.openxmlformats.org/drawingml/2006/main" w="9525">
            <a:solidFill>
              <a:srgbClr val="D9D9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A6D6CC-AE4A-4A98-887F-B567A195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31D"/>
                </a:solidFill>
              </a:defRPr>
            </a:pPr>
            <a:r>
              <a:rPr sz="1650" b="1">
                <a:solidFill>
                  <a:srgbClr val="14231D"/>
                </a:solidFill>
              </a:rPr>
              <a:t>Resultado · 30%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7105EA-CB53-4C3A-BCF0-89D560AC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353"/>
          </a:solidFill>
          <a:ln xmlns:a="http://schemas.openxmlformats.org/drawingml/2006/main" w="9525">
            <a:solidFill>
              <a:srgbClr val="1473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E9A9CD-7874-434F-BB2C-63489BBD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1750"/>
            <a:ext cx="1819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31D"/>
                </a:solidFill>
              </a:defRPr>
            </a:pPr>
            <a:r>
              <a:rPr sz="1500" b="0">
                <a:solidFill>
                  <a:srgbClr val="14231D"/>
                </a:solidFill>
              </a:rPr>
              <a:t>Créditos 15%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0783F7-EC82-41F9-AA05-9A1C284F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353"/>
          </a:solidFill>
          <a:ln xmlns:a="http://schemas.openxmlformats.org/drawingml/2006/main" w="9525">
            <a:solidFill>
              <a:srgbClr val="1473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3C408-1196-4956-A949-B81F9B8D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62300"/>
            <a:ext cx="1819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31D"/>
                </a:solidFill>
              </a:defRPr>
            </a:pPr>
            <a:r>
              <a:rPr sz="1500" b="0">
                <a:solidFill>
                  <a:srgbClr val="14231D"/>
                </a:solidFill>
              </a:rPr>
              <a:t>Contingências 10%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C12D0-BA87-48CF-9AA6-57C9ADAB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353"/>
          </a:solidFill>
          <a:ln xmlns:a="http://schemas.openxmlformats.org/drawingml/2006/main" w="9525">
            <a:solidFill>
              <a:srgbClr val="14735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B5A206-8FE3-4395-B1D1-55293C38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52850"/>
            <a:ext cx="1819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31D"/>
                </a:solidFill>
              </a:defRPr>
            </a:pPr>
            <a:r>
              <a:rPr sz="1500" b="0">
                <a:solidFill>
                  <a:srgbClr val="14231D"/>
                </a:solidFill>
              </a:rPr>
              <a:t>Economia 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72ECD4-2FF5-4BF3-B8C7-779C95E1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2524125" cy="390525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14231D"/>
          </a:solidFill>
          <a:ln xmlns:a="http://schemas.openxmlformats.org/drawingml/2006/main" w="9525">
            <a:solidFill>
              <a:srgbClr val="D9D9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8C6B6B-53A0-4E5C-BEC6-A3AA322E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526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EF9"/>
                </a:solidFill>
              </a:defRPr>
            </a:pPr>
            <a:r>
              <a:rPr sz="1650" b="1">
                <a:solidFill>
                  <a:srgbClr val="FFFEF9"/>
                </a:solidFill>
              </a:rPr>
              <a:t>Governança · 25%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C51079-5254-4B76-BFD1-4046F66B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28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DC53"/>
          </a:solidFill>
          <a:ln xmlns:a="http://schemas.openxmlformats.org/drawingml/2006/main" w="9525">
            <a:solidFill>
              <a:srgbClr val="BDDC5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818DF3-7ADF-40A9-A097-2C62614A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71750"/>
            <a:ext cx="1819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EF9"/>
                </a:solidFill>
              </a:defRPr>
            </a:pPr>
            <a:r>
              <a:rPr sz="1500" b="0">
                <a:solidFill>
                  <a:srgbClr val="FFFEF9"/>
                </a:solidFill>
              </a:rPr>
              <a:t>Custo-benefício 10%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16F976-7ABC-4E42-B1ED-A3A7DFA6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DC53"/>
          </a:solidFill>
          <a:ln xmlns:a="http://schemas.openxmlformats.org/drawingml/2006/main" w="9525">
            <a:solidFill>
              <a:srgbClr val="BDDC5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3B8324-CD94-4950-A62B-023A6CEE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62300"/>
            <a:ext cx="1819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EF9"/>
                </a:solidFill>
              </a:defRPr>
            </a:pPr>
            <a:r>
              <a:rPr sz="1500" b="0">
                <a:solidFill>
                  <a:srgbClr val="FFFEF9"/>
                </a:solidFill>
              </a:rPr>
              <a:t>Falhas 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363509-63B8-442E-AFDF-8546F2E6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DC53"/>
          </a:solidFill>
          <a:ln xmlns:a="http://schemas.openxmlformats.org/drawingml/2006/main" w="9525">
            <a:solidFill>
              <a:srgbClr val="BDDC5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3F7EC6-892D-4A17-9804-136A0D03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52850"/>
            <a:ext cx="1819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EF9"/>
                </a:solidFill>
              </a:defRPr>
            </a:pPr>
            <a:r>
              <a:rPr sz="1500" b="0">
                <a:solidFill>
                  <a:srgbClr val="FFFEF9"/>
                </a:solidFill>
              </a:rPr>
              <a:t>Apetite 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560523-E057-49F4-A07B-831B24DA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0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DC53"/>
          </a:solidFill>
          <a:ln xmlns:a="http://schemas.openxmlformats.org/drawingml/2006/main" w="9525">
            <a:solidFill>
              <a:srgbClr val="BDDC5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563657-59C5-4417-A555-A0885540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43400"/>
            <a:ext cx="1819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EF9"/>
                </a:solidFill>
              </a:defRPr>
            </a:pPr>
            <a:r>
              <a:rPr sz="1500" b="0">
                <a:solidFill>
                  <a:srgbClr val="FFFEF9"/>
                </a:solidFill>
              </a:rPr>
              <a:t>Radar legal 5%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64C5DE-CC70-4085-9A1E-A9901DE2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7353"/>
                </a:solidFill>
              </a:defRPr>
            </a:pPr>
            <a:r>
              <a:rPr sz="1575" b="1">
                <a:solidFill>
                  <a:srgbClr val="147353"/>
                </a:solidFill>
              </a:rPr>
              <a:t>IDE = Σ (indicador normalizado × peso)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8A98F5-B945-4B9B-92F8-93426C9B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905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8756F"/>
                </a:solidFill>
              </a:defRPr>
            </a:pPr>
            <a:r>
              <a:rPr sz="1350" b="0">
                <a:solidFill>
                  <a:srgbClr val="68756F"/>
                </a:solidFill>
              </a:rPr>
              <a:t>Baseline calcula, mas não autoriza panel review.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24586D-8D98-46F4-8E15-27831D15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56F"/>
                </a:solidFill>
              </a:defRPr>
            </a:pPr>
            <a:r>
              <a:rPr sz="825" b="1">
                <a:solidFill>
                  <a:srgbClr val="68756F"/>
                </a:solidFill>
              </a:rPr>
              <a:t>EMPRESA CONFIDENCIAL · DADOS SINTÉTICOS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23D882-1B58-4B76-A0D1-4C8E333C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6F"/>
                </a:solidFill>
              </a:defRPr>
            </a:pPr>
            <a:r>
              <a:rPr sz="825" b="1">
                <a:solidFill>
                  <a:srgbClr val="68756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529739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94C7AA-D170-472B-9C14-5789B421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353"/>
                </a:solidFill>
              </a:defRPr>
            </a:pPr>
            <a:r>
              <a:rPr sz="975" b="1">
                <a:solidFill>
                  <a:srgbClr val="147353"/>
                </a:solidFill>
              </a:rPr>
              <a:t>GESTÃO DE RISCO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64BE9-79B6-4167-9CB5-F88A3209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31D"/>
                </a:solidFill>
              </a:defRPr>
            </a:pPr>
            <a:r>
              <a:rPr sz="3000" b="1">
                <a:solidFill>
                  <a:srgbClr val="14231D"/>
                </a:solidFill>
              </a:rPr>
              <a:t>Quatro controles compensam a distância entre gestão e execução técnica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309D0-ED91-494E-985A-40B9359C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7353"/>
                </a:solidFill>
              </a:defRPr>
            </a:pPr>
            <a:r>
              <a:rPr sz="1275" b="1">
                <a:solidFill>
                  <a:srgbClr val="147353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CAACD-C620-4C8D-8EA4-8D687942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31D"/>
                </a:solidFill>
              </a:defRPr>
            </a:pPr>
            <a:r>
              <a:rPr sz="1875" b="1">
                <a:solidFill>
                  <a:srgbClr val="14231D"/>
                </a:solidFill>
              </a:rPr>
              <a:t>Alçadas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AA310-CA84-4F7B-B44E-C8AE661D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66875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56F"/>
                </a:solidFill>
              </a:defRPr>
            </a:pPr>
            <a:r>
              <a:rPr sz="1500" b="0">
                <a:solidFill>
                  <a:srgbClr val="68756F"/>
                </a:solidFill>
              </a:rPr>
              <a:t>Decisão por materialidade e impacto reputacional.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F2BDB-C2FC-44EB-BC6B-7DE22804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7353"/>
                </a:solidFill>
              </a:defRPr>
            </a:pPr>
            <a:r>
              <a:rPr sz="1275" b="1">
                <a:solidFill>
                  <a:srgbClr val="147353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CCC57-77F9-425F-B308-68ABF1C1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193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31D"/>
                </a:solidFill>
              </a:defRPr>
            </a:pPr>
            <a:r>
              <a:rPr sz="1875" b="1">
                <a:solidFill>
                  <a:srgbClr val="14231D"/>
                </a:solidFill>
              </a:rPr>
              <a:t>Gate ex ante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3FDDD-3BFE-4EA4-9200-8715F922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619375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56F"/>
                </a:solidFill>
              </a:defRPr>
            </a:pPr>
            <a:r>
              <a:rPr sz="1500" b="0">
                <a:solidFill>
                  <a:srgbClr val="68756F"/>
                </a:solidFill>
              </a:rPr>
              <a:t>Aprovação antes de posições relevantes.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EDA83-5579-43E9-85C9-329D4E5E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7353"/>
                </a:solidFill>
              </a:defRPr>
            </a:pPr>
            <a:r>
              <a:rPr sz="1275" b="1">
                <a:solidFill>
                  <a:srgbClr val="147353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42C78-D425-42FE-85E8-2A91243A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31D"/>
                </a:solidFill>
              </a:defRPr>
            </a:pPr>
            <a:r>
              <a:rPr sz="1875" b="1">
                <a:solidFill>
                  <a:srgbClr val="14231D"/>
                </a:solidFill>
              </a:rPr>
              <a:t>Segunda opinião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30F39-6CB4-43F9-BEC8-4101DB73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71875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56F"/>
                </a:solidFill>
              </a:defRPr>
            </a:pPr>
            <a:r>
              <a:rPr sz="1500" b="0">
                <a:solidFill>
                  <a:srgbClr val="68756F"/>
                </a:solidFill>
              </a:rPr>
              <a:t>Parecer independente em matéria de alto impacto.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330EF-24AF-4E9F-AEC6-769B4C5B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7353"/>
                </a:solidFill>
              </a:defRPr>
            </a:pPr>
            <a:r>
              <a:rPr sz="1275" b="1">
                <a:solidFill>
                  <a:srgbClr val="147353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6590DD-E29A-427D-A506-4FC363C1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243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31D"/>
                </a:solidFill>
              </a:defRPr>
            </a:pPr>
            <a:r>
              <a:rPr sz="1875" b="1">
                <a:solidFill>
                  <a:srgbClr val="14231D"/>
                </a:solidFill>
              </a:rPr>
              <a:t>Reliance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16B5B-F669-4798-8630-E3F208E6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24375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56F"/>
                </a:solidFill>
              </a:defRPr>
            </a:pPr>
            <a:r>
              <a:rPr sz="1500" b="0">
                <a:solidFill>
                  <a:srgbClr val="68756F"/>
                </a:solidFill>
              </a:rPr>
              <a:t>Questão, parecer, responsável e data documentados.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5D9981-145D-4E9F-BE7D-5B6FCF31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858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14231D"/>
          </a:solidFill>
          <a:ln xmlns:a="http://schemas.openxmlformats.org/drawingml/2006/main" w="9525">
            <a:solidFill>
              <a:srgbClr val="D9D9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2674E-16DF-4446-871D-347EF242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293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EF9"/>
                </a:solidFill>
              </a:defRPr>
            </a:pPr>
            <a:r>
              <a:rPr sz="1350" b="1">
                <a:solidFill>
                  <a:srgbClr val="FFFEF9"/>
                </a:solidFill>
              </a:rPr>
              <a:t>Escalar imediatamente: materialidade excedida · risco reputacional · sanções · posição fora do apetite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55278-120A-4A2B-9DBA-A43FCEBC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56F"/>
                </a:solidFill>
              </a:defRPr>
            </a:pPr>
            <a:r>
              <a:rPr sz="825" b="1">
                <a:solidFill>
                  <a:srgbClr val="68756F"/>
                </a:solidFill>
              </a:rPr>
              <a:t>EMPRESA CONFIDENCIAL · DADOS SINTÉTICOS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064664-2558-49F0-91E0-EEE67E3D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6F"/>
                </a:solidFill>
              </a:defRPr>
            </a:pPr>
            <a:r>
              <a:rPr sz="825" b="1">
                <a:solidFill>
                  <a:srgbClr val="68756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36278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753009-06B8-4232-B023-6C36CE7F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353"/>
                </a:solidFill>
              </a:defRPr>
            </a:pPr>
            <a:r>
              <a:rPr sz="975" b="1">
                <a:solidFill>
                  <a:srgbClr val="147353"/>
                </a:solidFill>
              </a:rPr>
              <a:t>PLANO DE IMPLANTAÇÃO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20DE6-E3B2-4ECE-8870-FF48DF1C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31D"/>
                </a:solidFill>
              </a:defRPr>
            </a:pPr>
            <a:r>
              <a:rPr sz="3000" b="1">
                <a:solidFill>
                  <a:srgbClr val="14231D"/>
                </a:solidFill>
              </a:rPr>
              <a:t>A sequência de 12 meses leva do diagnóstico à cultura regional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4332B-2F27-4477-923F-961EE717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86100"/>
            <a:ext cx="10001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9D0"/>
          </a:solidFill>
          <a:ln xmlns:a="http://schemas.openxmlformats.org/drawingml/2006/main" w="9525">
            <a:solidFill>
              <a:srgbClr val="D9D9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59509-6746-4FB7-A1BA-66EAD908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353"/>
          </a:solidFill>
          <a:ln xmlns:a="http://schemas.openxmlformats.org/drawingml/2006/main" w="9525">
            <a:solidFill>
              <a:srgbClr val="14735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34C43-8E7D-442F-B8D7-7E0ED96E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EF9"/>
                </a:solidFill>
              </a:defRPr>
            </a:pPr>
            <a:r>
              <a:rPr sz="1875" b="1">
                <a:solidFill>
                  <a:srgbClr val="FFFEF9"/>
                </a:solidFill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51963-1659-49C6-B1AC-9DF11C3D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71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7353"/>
                </a:solidFill>
              </a:defRPr>
            </a:pPr>
            <a:r>
              <a:rPr sz="1200" b="1">
                <a:solidFill>
                  <a:srgbClr val="147353"/>
                </a:solidFill>
              </a:rPr>
              <a:t>0–30 dias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3C36E-6B12-439B-B399-BDF78964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95287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31D"/>
                </a:solidFill>
              </a:defRPr>
            </a:pPr>
            <a:r>
              <a:rPr sz="1425" b="1">
                <a:solidFill>
                  <a:srgbClr val="14231D"/>
                </a:solidFill>
              </a:rPr>
              <a:t>Diagnóstico e cobertura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471DA-4AD6-4FE2-BC1A-F1D8CFC2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67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353"/>
          </a:solidFill>
          <a:ln xmlns:a="http://schemas.openxmlformats.org/drawingml/2006/main" w="9525">
            <a:solidFill>
              <a:srgbClr val="1473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B6D97-AF6A-4B54-8D26-81594BCB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194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EF9"/>
                </a:solidFill>
              </a:defRPr>
            </a:pPr>
            <a:r>
              <a:rPr sz="1875" b="1">
                <a:solidFill>
                  <a:srgbClr val="FFFEF9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DAF8C-A5A2-4B52-9B4C-BB6F2A51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71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7353"/>
                </a:solidFill>
              </a:defRPr>
            </a:pPr>
            <a:r>
              <a:rPr sz="1200" b="1">
                <a:solidFill>
                  <a:srgbClr val="147353"/>
                </a:solidFill>
              </a:rPr>
              <a:t>30–90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4B8E4-7DA0-4115-BE58-E41661F7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5287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31D"/>
                </a:solidFill>
              </a:defRPr>
            </a:pPr>
            <a:r>
              <a:rPr sz="1425" b="1">
                <a:solidFill>
                  <a:srgbClr val="14231D"/>
                </a:solidFill>
              </a:rPr>
              <a:t>Governança e rede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D773C-4C43-483B-9EDC-CBCB1BB1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67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353"/>
          </a:solidFill>
          <a:ln xmlns:a="http://schemas.openxmlformats.org/drawingml/2006/main" w="9525">
            <a:solidFill>
              <a:srgbClr val="1473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61AFA-8C3B-4079-B3A0-D8031446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194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EF9"/>
                </a:solidFill>
              </a:defRPr>
            </a:pPr>
            <a:r>
              <a:rPr sz="1875" b="1">
                <a:solidFill>
                  <a:srgbClr val="FFFEF9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3C265-9B31-4BFE-8012-413677D8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71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7353"/>
                </a:solidFill>
              </a:defRPr>
            </a:pPr>
            <a:r>
              <a:rPr sz="1200" b="1">
                <a:solidFill>
                  <a:srgbClr val="147353"/>
                </a:solidFill>
              </a:rPr>
              <a:t>90–180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F1C79-4EDD-4075-BE21-F9FCF170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95287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31D"/>
                </a:solidFill>
              </a:defRPr>
            </a:pPr>
            <a:r>
              <a:rPr sz="1425" b="1">
                <a:solidFill>
                  <a:srgbClr val="14231D"/>
                </a:solidFill>
              </a:rPr>
              <a:t>ETR e recuperação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9C4D8-C25B-4B16-914D-CEACA0A7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67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353"/>
          </a:solidFill>
          <a:ln xmlns:a="http://schemas.openxmlformats.org/drawingml/2006/main" w="9525">
            <a:solidFill>
              <a:srgbClr val="1473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E17D71-11AB-418A-827F-911FBC98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194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EF9"/>
                </a:solidFill>
              </a:defRPr>
            </a:pPr>
            <a:r>
              <a:rPr sz="1875" b="1">
                <a:solidFill>
                  <a:srgbClr val="FFFEF9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780882-01C0-4BF1-B1D8-37DD3020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71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7353"/>
                </a:solidFill>
              </a:defRPr>
            </a:pPr>
            <a:r>
              <a:rPr sz="1200" b="1">
                <a:solidFill>
                  <a:srgbClr val="147353"/>
                </a:solidFill>
              </a:rPr>
              <a:t>90–180+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0BAE0F-A199-47F7-8E78-E13BA9F0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5287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31D"/>
                </a:solidFill>
              </a:defRPr>
            </a:pPr>
            <a:r>
              <a:rPr sz="1425" b="1">
                <a:solidFill>
                  <a:srgbClr val="14231D"/>
                </a:solidFill>
              </a:rPr>
              <a:t>Risco contínuo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F86E9D-C37C-4B7D-92C7-E284181B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DC53"/>
          </a:solidFill>
          <a:ln xmlns:a="http://schemas.openxmlformats.org/drawingml/2006/main" w="9525">
            <a:solidFill>
              <a:srgbClr val="BDDC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16530E-DC40-4545-AA5E-16D9B082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194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31D"/>
                </a:solidFill>
              </a:defRPr>
            </a:pPr>
            <a:r>
              <a:rPr sz="1875" b="1">
                <a:solidFill>
                  <a:srgbClr val="14231D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9BC9E6-5BE8-4F19-9370-F2FC24AA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571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7353"/>
                </a:solidFill>
              </a:defRPr>
            </a:pPr>
            <a:r>
              <a:rPr sz="1200" b="1">
                <a:solidFill>
                  <a:srgbClr val="147353"/>
                </a:solidFill>
              </a:rPr>
              <a:t>180–365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20C3BE-9B1F-475E-98D8-724566C9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5287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31D"/>
                </a:solidFill>
              </a:defRPr>
            </a:pPr>
            <a:r>
              <a:rPr sz="1425" b="1">
                <a:solidFill>
                  <a:srgbClr val="14231D"/>
                </a:solidFill>
              </a:rPr>
              <a:t>Cultura e consolidação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130C14-1F1B-4C6D-9F98-0B1817B9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56F"/>
                </a:solidFill>
              </a:defRPr>
            </a:pPr>
            <a:r>
              <a:rPr sz="1800" b="0">
                <a:solidFill>
                  <a:srgbClr val="68756F"/>
                </a:solidFill>
              </a:rPr>
              <a:t>Frente paralela desde o dia 1: atendimento às demandas correntes do negócio.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682EBD-D16D-42DB-9A18-6B251E80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56F"/>
                </a:solidFill>
              </a:defRPr>
            </a:pPr>
            <a:r>
              <a:rPr sz="825" b="1">
                <a:solidFill>
                  <a:srgbClr val="68756F"/>
                </a:solidFill>
              </a:rPr>
              <a:t>EMPRESA CONFIDENCIAL · DADOS SINTÉTICOS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838436-5CD1-46DC-B976-C2067706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6F"/>
                </a:solidFill>
              </a:defRPr>
            </a:pPr>
            <a:r>
              <a:rPr sz="825" b="1">
                <a:solidFill>
                  <a:srgbClr val="68756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627586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2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33FBC4-9D4E-4ABD-A30E-CF9300CE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353"/>
                </a:solidFill>
              </a:defRPr>
            </a:pPr>
            <a:r>
              <a:rPr sz="975" b="1">
                <a:solidFill>
                  <a:srgbClr val="147353"/>
                </a:solidFill>
              </a:rPr>
              <a:t>PRÓXIMA DECISÃO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61A4B-CFB0-47BB-B6BF-FE1C981D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EF9"/>
                </a:solidFill>
              </a:defRPr>
            </a:pPr>
            <a:r>
              <a:rPr sz="3150" b="1">
                <a:solidFill>
                  <a:srgbClr val="FFFEF9"/>
                </a:solidFill>
              </a:rPr>
              <a:t>Validar o modelo antes de calibrar a empresa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9F287-7007-4CEE-A8C2-D704E668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DC53"/>
                </a:solidFill>
              </a:defRPr>
            </a:pPr>
            <a:r>
              <a:rPr sz="1125" b="1">
                <a:solidFill>
                  <a:srgbClr val="BDDC53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99848-51D1-444A-9589-F62A27C2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240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EF9"/>
                </a:solidFill>
              </a:defRPr>
            </a:pPr>
            <a:r>
              <a:rPr sz="1650" b="0">
                <a:solidFill>
                  <a:srgbClr val="FFFEF9"/>
                </a:solidFill>
              </a:rPr>
              <a:t>Pesos, metas e limiares são defensáveis?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4DF56-6389-4FEE-874A-BFD4F1FE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384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DC53"/>
                </a:solidFill>
              </a:defRPr>
            </a:pPr>
            <a:r>
              <a:rPr sz="1125" b="1">
                <a:solidFill>
                  <a:srgbClr val="BDDC53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294F0-C160-4A0D-A452-1361DB16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098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EF9"/>
                </a:solidFill>
              </a:defRPr>
            </a:pPr>
            <a:r>
              <a:rPr sz="1650" b="0">
                <a:solidFill>
                  <a:srgbClr val="FFFEF9"/>
                </a:solidFill>
              </a:rPr>
              <a:t>O scorecard mede processo sem invadir o mérito jurídico?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5328D-A38A-44C7-BE07-24EAD20D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DC53"/>
                </a:solidFill>
              </a:defRPr>
            </a:pPr>
            <a:r>
              <a:rPr sz="1125" b="1">
                <a:solidFill>
                  <a:srgbClr val="BDDC53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D696C-1545-4E0E-932A-C7C838F8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95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EF9"/>
                </a:solidFill>
              </a:defRPr>
            </a:pPr>
            <a:r>
              <a:rPr sz="1650" b="0">
                <a:solidFill>
                  <a:srgbClr val="FFFEF9"/>
                </a:solidFill>
              </a:rPr>
              <a:t>Quais campos exigem validação obrigatória por país?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3A6AA-C17B-4ADB-A2E5-8B1EE496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00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DC53"/>
                </a:solidFill>
              </a:defRPr>
            </a:pPr>
            <a:r>
              <a:rPr sz="1125" b="1">
                <a:solidFill>
                  <a:srgbClr val="BDDC53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19590-081E-4244-8EAF-6B5C07BE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EF9"/>
                </a:solidFill>
              </a:defRPr>
            </a:pPr>
            <a:r>
              <a:rPr sz="1650" b="0">
                <a:solidFill>
                  <a:srgbClr val="FFFEF9"/>
                </a:solidFill>
              </a:rPr>
              <a:t>Como preservar privilege e reliance em cada tradição jurídica?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1B1FD-0CBE-4B72-9DB9-FDCE8030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958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DC53"/>
                </a:solidFill>
              </a:defRPr>
            </a:pPr>
            <a:r>
              <a:rPr sz="1125" b="1">
                <a:solidFill>
                  <a:srgbClr val="BDDC53"/>
                </a:solidFill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565EA-D41F-4C5E-98C5-9CDB9DD6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672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EF9"/>
                </a:solidFill>
              </a:defRPr>
            </a:pPr>
            <a:r>
              <a:rPr sz="1650" b="0">
                <a:solidFill>
                  <a:srgbClr val="FFFEF9"/>
                </a:solidFill>
              </a:rPr>
              <a:t>Quais parâmetros cabem ao CFO e quais ao Board?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D0CF6-FB1A-47B6-94B1-C9007DC5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858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DDC53"/>
          </a:solidFill>
          <a:ln xmlns:a="http://schemas.openxmlformats.org/drawingml/2006/main" w="9525">
            <a:solidFill>
              <a:srgbClr val="D9D9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59F5F4-C6EF-4943-B571-81089D2F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97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31D"/>
                </a:solidFill>
              </a:defRPr>
            </a:pPr>
            <a:r>
              <a:rPr sz="1500" b="1">
                <a:solidFill>
                  <a:srgbClr val="14231D"/>
                </a:solidFill>
              </a:rPr>
              <a:t>Resultado esperado: parâmetros aprovados, lacunas atribuídas e piloto autorizado.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5842A-07BF-4352-859B-3D75E7D0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4AE"/>
                </a:solidFill>
              </a:defRPr>
            </a:pPr>
            <a:r>
              <a:rPr sz="825" b="1">
                <a:solidFill>
                  <a:srgbClr val="A7B4AE"/>
                </a:solidFill>
              </a:rPr>
              <a:t>EMPRESA CONFIDENCIAL · NÃO CONSTITUI PARECER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A0E7BE-BA5F-4688-AA47-7E690EBB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B4AE"/>
                </a:solidFill>
              </a:defRPr>
            </a:pPr>
            <a:r>
              <a:rPr sz="825" b="1">
                <a:solidFill>
                  <a:srgbClr val="A7B4AE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28376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2026-08-16T04:39:19.7150000Z</dcterms:created>
  <dcterms:modified xsi:type="dcterms:W3CDTF">2026-08-16T04:39:19.7150000Z</dcterms:modified>
</coreProperties>
</file>